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 snapToObjects="1">
      <p:cViewPr varScale="1">
        <p:scale>
          <a:sx n="118" d="100"/>
          <a:sy n="118" d="100"/>
        </p:scale>
        <p:origin x="55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E11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留下来的理由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BEFF0"/>
                </a:solidFill>
                <a:latin typeface="Arial"/>
              </a:rPr>
              <a:t>A REASON TO STAY  ·  National Day Special SG61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Under One Roof 《同一个屋檐下》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BEFF0"/>
                </a:solidFill>
                <a:latin typeface="Arial"/>
              </a:rPr>
              <a:t>Storyboard &amp; Shooting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Target release: Aug 8 evening / Aug 9  ·  12 scenes · 19–22 min  ·  Dialogue: Chinese + Singlish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A3532"/>
                </a:solidFill>
                <a:latin typeface="Arial"/>
              </a:rPr>
              <a:t>The Topic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CE1126"/>
                </a:solidFill>
                <a:latin typeface="Arial"/>
              </a:rPr>
              <a:t>A livelihood-level topic (not a petty issue)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A3532"/>
                </a:solidFill>
                <a:latin typeface="Arial"/>
              </a:rPr>
              <a:t>Almost every working Singaporean has secretly done the emigration math: same work, elsewhere — more money, bigger home, less pressure. Staying is not a default; it is a choice remade every day.</a:t>
            </a:r>
          </a:p>
          <a:p>
            <a:pPr algn="l">
              <a:spcAft>
                <a:spcPts val="600"/>
              </a:spcAft>
            </a:pPr>
            <a:endParaRPr sz="130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CE1126"/>
                </a:solidFill>
                <a:latin typeface="Arial"/>
              </a:rPr>
              <a:t>What the viewer privately feels (source of the hook)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A3532"/>
                </a:solidFill>
                <a:latin typeface="Arial"/>
              </a:rPr>
              <a:t>“I complain about this place daily, I have calculated leaving, and I am still here — why?” Complaining is our love language. National Day week is when this question hums loudest and gets said least.</a:t>
            </a:r>
          </a:p>
          <a:p>
            <a:pPr algn="l">
              <a:spcAft>
                <a:spcPts val="600"/>
              </a:spcAft>
            </a:pPr>
            <a:endParaRPr sz="130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CE1126"/>
                </a:solidFill>
                <a:latin typeface="Arial"/>
              </a:rPr>
              <a:t>Emotional arc: Problem → Hope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A3532"/>
                </a:solidFill>
                <a:latin typeface="Arial"/>
              </a:rPr>
              <a:t>The spreadsheet says leave → the unquantifiable column says stay. No propaganda, no cynicism.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25880"/>
            <a:ext cx="5212080" cy="502920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0" y="1691640"/>
            <a:ext cx="45720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CE1126"/>
                </a:solidFill>
                <a:latin typeface="Arial"/>
              </a:rPr>
              <a:t>Story engine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A3532"/>
                </a:solidFill>
                <a:latin typeface="Arial"/>
              </a:rPr>
              <a:t>Angeline receives a real KL offer: 40% more profit, half the rent. She gives the household two weeks: “Name one reason to stay — and don't say food.” Deadline: Aug 9, after the fireworks.</a:t>
            </a:r>
          </a:p>
          <a:p>
            <a:pPr algn="l">
              <a:spcAft>
                <a:spcPts val="600"/>
              </a:spcAft>
            </a:pPr>
            <a:endParaRPr sz="130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CE1126"/>
                </a:solidFill>
                <a:latin typeface="Arial"/>
              </a:rPr>
              <a:t>Spice (seasoning, never the main course)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3A3532"/>
                </a:solidFill>
                <a:latin typeface="Arial"/>
              </a:rPr>
              <a:t>Joseph loses a client to a cheaper vendor (outsourcing) · third revision free of charge (price squeeze) · rent-discount negotiation (landlord gag)</a:t>
            </a:r>
          </a:p>
          <a:p>
            <a:pPr algn="l">
              <a:spcAft>
                <a:spcPts val="600"/>
              </a:spcAft>
            </a:pPr>
            <a:endParaRPr sz="125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CE1126"/>
                </a:solidFill>
                <a:latin typeface="Arial"/>
              </a:rPr>
              <a:t>Deadpan iron rules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3A3532"/>
                </a:solidFill>
                <a:latin typeface="Arial"/>
              </a:rPr>
              <a:t>Nobody cries on camera — the audience does. Only two camera moves in the whole episode (S5 push-in, S10 pan).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A3532"/>
                </a:solidFill>
                <a:latin typeface="Arial"/>
              </a:rPr>
              <a:t>Background &amp; Art Direction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64240" cy="78638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44752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E1126"/>
                </a:solidFill>
                <a:latin typeface="Arial"/>
              </a:rPr>
              <a:t>Overall mood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444752"/>
            <a:ext cx="76809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A3532"/>
                </a:solidFill>
                <a:latin typeface="Arial"/>
              </a:rPr>
              <a:t>HDB-heartland National Day week: flags along the corridor, rehearsal on TV, red-and-white outfits. Patriotism is never spoken — it hides in the props.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03704"/>
            <a:ext cx="11064240" cy="78638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22576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E1126"/>
                </a:solidFill>
                <a:latin typeface="Arial"/>
              </a:rPr>
              <a:t>The whiteboard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322576"/>
            <a:ext cx="76809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A3532"/>
                </a:solidFill>
                <a:latin typeface="Arial"/>
              </a:rPr>
              <a:t>The through-prop. S1 sets up the two-column comparison (Singapore vs KL); it is never erased; S12 closes on the added line 「屋檐 x 1 (会升值)」. Continuity is critical.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81528"/>
            <a:ext cx="11064240" cy="78638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E1126"/>
                </a:solidFill>
                <a:latin typeface="Arial"/>
              </a:rPr>
              <a:t>The flag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200400"/>
            <a:ext cx="76809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A3532"/>
                </a:solidFill>
                <a:latin typeface="Arial"/>
              </a:rPr>
              <a:t>Good condition, correct display (front facing out, never touching the floor). Display during the National Day period is standard practice; for any shoot outside the period, check current guidelines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59352"/>
            <a:ext cx="11064240" cy="78638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078224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E1126"/>
                </a:solidFill>
                <a:latin typeface="Arial"/>
              </a:rPr>
              <a:t>TV / NDP footage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078224"/>
            <a:ext cx="76809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A3532"/>
                </a:solidFill>
                <a:latin typeface="Arial"/>
              </a:rPr>
              <a:t>Copyright-conservative: TV screen soft-focus or audio only. Never re-film broadcast footage directly.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37176"/>
            <a:ext cx="11064240" cy="78638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95604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E1126"/>
                </a:solidFill>
                <a:latin typeface="Arial"/>
              </a:rPr>
              <a:t>Red &amp; white wardrobe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956048"/>
            <a:ext cx="76809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A3532"/>
                </a:solidFill>
                <a:latin typeface="Arial"/>
              </a:rPr>
              <a:t>From S10: Joseph in full supporter kit (clapper, cheek sticker) · James in a red polo (he claims coincidence) · Angeline in white (restraint).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715000"/>
            <a:ext cx="11064240" cy="786384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833872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E1126"/>
                </a:solidFill>
                <a:latin typeface="Arial"/>
              </a:rPr>
              <a:t>Props 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5833872"/>
            <a:ext cx="76809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A3532"/>
                </a:solidFill>
                <a:latin typeface="Arial"/>
              </a:rPr>
              <a:t>Flip chart + stand · printed spreadsheet with handwritten rows · “TOP SECRET” agenda sheet · a table of home-cooked local dishes · kaya toast breakfast · 2 fake WhatsApp screenshots · small handheld flags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638544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Standing rule unchanged: NO bedroom scenes. Every location = living room · dining · open kitchen · entry/corridor · window.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A3532"/>
                </a:solidFill>
                <a:latin typeface="Arial"/>
              </a:rPr>
              <a:t>SCENE 1 · The Ultimatum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E1126"/>
                </a:solidFill>
                <a:latin typeface="Arial"/>
              </a:rPr>
              <a:t>Living room · Night · ~1:45</a:t>
            </a:r>
          </a:p>
        </p:txBody>
      </p:sp>
      <p:pic>
        <p:nvPicPr>
          <p:cNvPr id="5" name="Picture 4" descr="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492240" cy="37166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89389"/>
            <a:ext cx="6492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E1126"/>
                </a:solidFill>
                <a:latin typeface="Arial"/>
              </a:rPr>
              <a:t>Shots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① MS whiteboard + Angeline, lecture framing — her home turf ② two-shot sofa reactions ③ CU the two columns → title card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8A827C"/>
                </a:solidFill>
                <a:latin typeface="Arial"/>
              </a:rPr>
              <a:t>Props: Whiteboard + marker · two bowls of supper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4343400" cy="521208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3749039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The beat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532"/>
                </a:solidFill>
                <a:latin typeface="Arial"/>
              </a:rPr>
              <a:t>Angeline lays out two columns on the whiteboard: KL wins on every number. She gives the household two weeks to name one reason to stay — food and safety don't count.</a:t>
            </a:r>
          </a:p>
          <a:p>
            <a:pPr algn="l">
              <a:spcAft>
                <a:spcPts val="400"/>
              </a:spcAft>
            </a:pPr>
            <a:endParaRPr sz="115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Background / set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Living room, everyday state. Whiteboard with the two-column numbers (fictional offer — never quote real market data).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Key lines (Chinese — as spoken)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「讲一个留下来的理由。不要讲 food。」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「这个不是 negotiate。是 ultimatum。」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A3532"/>
                </a:solidFill>
                <a:latin typeface="Arial"/>
              </a:rPr>
              <a:t>SCENE 2 · The Committee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E1126"/>
                </a:solidFill>
                <a:latin typeface="Arial"/>
              </a:rPr>
              <a:t>Dining · Day · ~2:00</a:t>
            </a:r>
          </a:p>
        </p:txBody>
      </p:sp>
      <p:pic>
        <p:nvPicPr>
          <p:cNvPr id="5" name="Picture 4" descr="n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492240" cy="37166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89389"/>
            <a:ext cx="6492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E1126"/>
                </a:solidFill>
                <a:latin typeface="Arial"/>
              </a:rPr>
              <a:t>Shots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① WS dining table, empty chair in frame ② CU the minutes: “Campaign Stay Lah” ③ singles as each confesses his real motive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8A827C"/>
                </a:solidFill>
                <a:latin typeface="Arial"/>
              </a:rPr>
              <a:t>Props: Agenda sheet · notebook · 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4343400" cy="521208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3749039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The beat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532"/>
                </a:solidFill>
                <a:latin typeface="Arial"/>
              </a:rPr>
              <a:t>The two men convene “Campaign Stay Lah” — budget zero, motives entirely selfish (rent income, cheaper shared utilities). They resolve to find nobler reasons than their own.</a:t>
            </a:r>
          </a:p>
          <a:p>
            <a:pPr algn="l">
              <a:spcAft>
                <a:spcPts val="400"/>
              </a:spcAft>
            </a:pPr>
            <a:endParaRPr sz="115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Background / set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Dining table + printed agenda comically stamped TOP SECRET. Angeline's empty chair stays in frame — the empty seat is part of the joke.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Key lines (Chinese — as spoken)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「Zero budget 的 campaign 叫做祝你好运。」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「我们需要比我们自己高尚的理由。」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A3532"/>
                </a:solidFill>
                <a:latin typeface="Arial"/>
              </a:rPr>
              <a:t>SCENE 3 · Rehearsal On TV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E1126"/>
                </a:solidFill>
                <a:latin typeface="Arial"/>
              </a:rPr>
              <a:t>Living room · Day · ~1:45</a:t>
            </a:r>
          </a:p>
        </p:txBody>
      </p:sp>
      <p:pic>
        <p:nvPicPr>
          <p:cNvPr id="5" name="Picture 4" descr="n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492240" cy="37166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89389"/>
            <a:ext cx="6492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E1126"/>
                </a:solidFill>
                <a:latin typeface="Arial"/>
              </a:rPr>
              <a:t>Shots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① WS three people, three tasks, TV glow ② CU phone: “free of charge” ③ follow-focus on Angeline walking out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8A827C"/>
                </a:solidFill>
                <a:latin typeface="Arial"/>
              </a:rPr>
              <a:t>Props: Laptop · phone · earpiece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4343400" cy="521208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3749039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The beat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532"/>
                </a:solidFill>
                <a:latin typeface="Arial"/>
              </a:rPr>
              <a:t>NDP rehearsal songs play while all three work overtime: James drafts a listing, Joseph does a third free revision, Angeline walks through on a KL call. The song's ideals vs the reality in their hands.</a:t>
            </a:r>
          </a:p>
          <a:p>
            <a:pPr algn="l">
              <a:spcAft>
                <a:spcPts val="400"/>
              </a:spcAft>
            </a:pPr>
            <a:endParaRPr sz="115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Background / set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TV soft-focus or audio-only (copyright). Each character has an “overtime prop”.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Key lines (Chinese — as spoken)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「这首歌的时候，我还相信我会有 landed。」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「现在我帮别人卖 landed。」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A3532"/>
                </a:solidFill>
                <a:latin typeface="Arial"/>
              </a:rPr>
              <a:t>SCENE 4 · Food Is Not Food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E1126"/>
                </a:solidFill>
                <a:latin typeface="Arial"/>
              </a:rPr>
              <a:t>Open kitchen · Night · ~2:00</a:t>
            </a:r>
          </a:p>
        </p:txBody>
      </p:sp>
      <p:pic>
        <p:nvPicPr>
          <p:cNvPr id="5" name="Picture 4" descr="n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492240" cy="37166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89389"/>
            <a:ext cx="6492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E1126"/>
                </a:solidFill>
                <a:latin typeface="Arial"/>
              </a:rPr>
              <a:t>Shots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① MS over counter, dishes foreground ② shot/reverse-shot argument ③ CU message (one readable flash) → phone face-down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8A827C"/>
                </a:solidFill>
                <a:latin typeface="Arial"/>
              </a:rPr>
              <a:t>Props: 5–6 local dishes · phone (fake screenshot)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4343400" cy="521208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3749039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The beat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532"/>
                </a:solidFill>
                <a:latin typeface="Arial"/>
              </a:rPr>
              <a:t>Joseph cooks a full local spread and argues food is memory; Angeline counters with blind-test data. Mid-scene his phone buzzes: a client is switching to a cheaper vendor — outsourcing just reached him.</a:t>
            </a:r>
          </a:p>
          <a:p>
            <a:pPr algn="l">
              <a:spcAft>
                <a:spcPts val="400"/>
              </a:spcAft>
            </a:pPr>
            <a:endParaRPr sz="115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Background / set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Counter covered in home-cooked local dishes — generous but homely, not restaurant plating. Prepared fake message screenshot.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Key lines (Chinese — as spoken)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「Food 是记忆。」——「Food 是 food。」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「KL 的 laksa 便宜三成。」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A3532"/>
                </a:solidFill>
                <a:latin typeface="Arial"/>
              </a:rPr>
              <a:t>SCENE 5 · Pitching The Country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E1126"/>
                </a:solidFill>
                <a:latin typeface="Arial"/>
              </a:rPr>
              <a:t>Dining · Night · ~2:30</a:t>
            </a:r>
          </a:p>
        </p:txBody>
      </p:sp>
      <p:pic>
        <p:nvPicPr>
          <p:cNvPr id="5" name="Picture 4" descr="n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492240" cy="37166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89389"/>
            <a:ext cx="6492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E1126"/>
                </a:solidFill>
                <a:latin typeface="Arial"/>
              </a:rPr>
              <a:t>Shots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① WS full presentation (shorts MUST be in frame — the episode's biggest visual gag) ② CU each flip-chart page ③ slow push-in on the final line — first camera move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8A827C"/>
                </a:solidFill>
                <a:latin typeface="Arial"/>
              </a:rPr>
              <a:t>Props: Flip chart + stand · suit jacket + shorts · marker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4343400" cy="521208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3749039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The beat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532"/>
                </a:solidFill>
                <a:latin typeface="Arial"/>
              </a:rPr>
              <a:t>James presents “Singapore” as a property on a flip chart — flaws first (small, expensive, hot), because an agent who leads with flaws can be trusted. He closes with the one selling point not on the chart.</a:t>
            </a:r>
          </a:p>
          <a:p>
            <a:pPr algn="l">
              <a:spcAft>
                <a:spcPts val="400"/>
              </a:spcAft>
            </a:pPr>
            <a:endParaRPr sz="115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Background / set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Dining area dressed as a presentation venue: flip chart, oversized handwriting, property-launch styling. James wears suit jacket + home shorts.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Key lines (Chinese — as spoken)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「先讲缺点的 agent，你才能信。」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「这个，是我唯一真的住过的。」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「但是光不能付 KL 的两倍薪水。」——「对。」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A3532"/>
                </a:solidFill>
                <a:latin typeface="Arial"/>
              </a:rPr>
              <a:t>SCENE 6 · Hanging The Flag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E1126"/>
                </a:solidFill>
                <a:latin typeface="Arial"/>
              </a:rPr>
              <a:t>Corridor/entry · Day · ~1:45</a:t>
            </a:r>
          </a:p>
        </p:txBody>
      </p:sp>
      <p:pic>
        <p:nvPicPr>
          <p:cNvPr id="5" name="Picture 4" descr="n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492240" cy="37166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89389"/>
            <a:ext cx="6492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E1126"/>
                </a:solidFill>
                <a:latin typeface="Arial"/>
              </a:rPr>
              <a:t>Shots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① corridor WS, symmetric, ceremonial ② CU flag positioning ③ Joseph's story: single MS, flag soft-focus behind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8A827C"/>
                </a:solidFill>
                <a:latin typeface="Arial"/>
              </a:rPr>
              <a:t>Props: One national flag (good condition) · fixtures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4343400" cy="521208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3749039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The beat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532"/>
                </a:solidFill>
                <a:latin typeface="Arial"/>
              </a:rPr>
              <a:t>James directs the flag-hanging like a ceremony and lets slip he hangs it even when living alone. Joseph recalls a client office gone to KL — then realises whose argument that helps.</a:t>
            </a:r>
          </a:p>
          <a:p>
            <a:pPr algn="l">
              <a:spcAft>
                <a:spcPts val="400"/>
              </a:spcAft>
            </a:pPr>
            <a:endParaRPr sz="115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Background / set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Unit entrance + corridor. Flag in good condition, displayed correctly on camera (front out, never touching the floor).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Key lines (Chinese — as spoken)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「一个人住的时候，更加要挂。」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「……但是他们 CEO 很后悔！听讲的。」——「听讲的。」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A3532"/>
                </a:solidFill>
                <a:latin typeface="Arial"/>
              </a:rPr>
              <a:t>SCENE 7 · James's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E1126"/>
                </a:solidFill>
                <a:latin typeface="Arial"/>
              </a:rPr>
              <a:t>Dining · Late night · ~2:15</a:t>
            </a:r>
          </a:p>
        </p:txBody>
      </p:sp>
      <p:pic>
        <p:nvPicPr>
          <p:cNvPr id="5" name="Picture 4" descr="n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492240" cy="37166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89389"/>
            <a:ext cx="6492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E1126"/>
                </a:solidFill>
                <a:latin typeface="Arial"/>
              </a:rPr>
              <a:t>Shots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① symmetric two-shot across the table — the core conversation ② CU James on the key line ③ end on her not looking at the laptop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8A827C"/>
                </a:solidFill>
                <a:latin typeface="Arial"/>
              </a:rPr>
              <a:t>Props: Laptop · water glass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4343400" cy="521208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3749039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The beat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532"/>
                </a:solidFill>
                <a:latin typeface="Arial"/>
              </a:rPr>
              <a:t>No agenda this time. James admits that in his worst year, 2019, he ran the Perth numbers — and the numbers won. The episode's core line lives here.</a:t>
            </a:r>
          </a:p>
          <a:p>
            <a:pPr algn="l">
              <a:spcAft>
                <a:spcPts val="400"/>
              </a:spcAft>
            </a:pPr>
            <a:endParaRPr sz="115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Background / set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One warm lamp only. Lighting contrast: laptop's cold light on her face vs warm lamp on his.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Key lines (Chinese — as spoken)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「每一个留下来的人，都不是没有算过。」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「是算完，还是留下来。那个差别，就是理由。」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A3532"/>
                </a:solidFill>
                <a:latin typeface="Arial"/>
              </a:rPr>
              <a:t>SCENE 8 · The List That Grows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E1126"/>
                </a:solidFill>
                <a:latin typeface="Arial"/>
              </a:rPr>
              <a:t>Dining · Day · ~2:00</a:t>
            </a:r>
          </a:p>
        </p:txBody>
      </p:sp>
      <p:pic>
        <p:nvPicPr>
          <p:cNvPr id="5" name="Picture 4" descr="n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492240" cy="37166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89389"/>
            <a:ext cx="6492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E1126"/>
                </a:solidFill>
                <a:latin typeface="Arial"/>
              </a:rPr>
              <a:t>Shots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① home-base three-shot ② CU handwritten Column B rows ③ Joseph's line: single MS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8A827C"/>
                </a:solidFill>
                <a:latin typeface="Arial"/>
              </a:rPr>
              <a:t>Props: Printed spreadsheet (handwritten rows) · 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4343400" cy="521208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3749039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The beat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532"/>
                </a:solidFill>
                <a:latin typeface="Arial"/>
              </a:rPr>
              <a:t>Angeline processes feelings the only way she knows: a printed spreadsheet. Column A (quantifiable): KL wins. Column B (unquantifiable) keeps growing on its own — which offends her as an analyst.</a:t>
            </a:r>
          </a:p>
          <a:p>
            <a:pPr algn="l">
              <a:spcAft>
                <a:spcPts val="400"/>
              </a:spcAft>
            </a:pPr>
            <a:endParaRPr sz="115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Background / set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Printed spreadsheet must survive a close-up: Column B full of handwritten rows (mum's Sunday dinner, the O Level students, the mama shop uncle).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Key lines (Chinese — as spoken)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「我删掉一行，它自己长两行。」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「那个不是 list。那个是答案在排队。」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A3532"/>
                </a:solidFill>
                <a:latin typeface="Arial"/>
              </a:rPr>
              <a:t>SCENE 9 · The Morning Of Aug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E1126"/>
                </a:solidFill>
                <a:latin typeface="Arial"/>
              </a:rPr>
              <a:t>Open kitchen · Day · ~1:30</a:t>
            </a:r>
          </a:p>
        </p:txBody>
      </p:sp>
      <p:pic>
        <p:nvPicPr>
          <p:cNvPr id="5" name="Picture 4" descr="n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492240" cy="37166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89389"/>
            <a:ext cx="6492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E1126"/>
                </a:solidFill>
                <a:latin typeface="Arial"/>
              </a:rPr>
              <a:t>Shots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① kitchen blocking in one continuous take if possible ② CU answering the phone ③ CU burnt toast (the laugh)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8A827C"/>
                </a:solidFill>
                <a:latin typeface="Arial"/>
              </a:rPr>
              <a:t>Props: Toaster · kaya · eggs · kopi cups · phone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4343400" cy="521208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3749039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The beat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532"/>
                </a:solidFill>
                <a:latin typeface="Arial"/>
              </a:rPr>
              <a:t>National Day morning, kaya toast breakfast. KL calls for the answer; she says tonight — after the fireworks. The men freeze mid-task; the toast burns.</a:t>
            </a:r>
          </a:p>
          <a:p>
            <a:pPr algn="l">
              <a:spcAft>
                <a:spcPts val="400"/>
              </a:spcAft>
            </a:pPr>
            <a:endParaRPr sz="115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Background / set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Breakfast reality: toaster, kaya, soft-boiled eggs, kopi. National Day radio programming as off-screen audio.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Key lines (Chinese — as spoken)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「今晚给你 final answer。烟花之后。」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「要看它会不会骗到我。」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A3532"/>
                </a:solidFill>
                <a:latin typeface="Arial"/>
              </a:rPr>
              <a:t>SCENE 10 · Watching The Parade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E1126"/>
                </a:solidFill>
                <a:latin typeface="Arial"/>
              </a:rPr>
              <a:t>Living room · Evening · ~2:30</a:t>
            </a:r>
          </a:p>
        </p:txBody>
      </p:sp>
      <p:pic>
        <p:nvPicPr>
          <p:cNvPr id="5" name="Picture 4" descr="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492240" cy="37166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89389"/>
            <a:ext cx="6492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E1126"/>
                </a:solidFill>
                <a:latin typeface="Arial"/>
              </a:rPr>
              <a:t>Shots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① WS sofa three-shot (trailer frame) ② pledge segment: slow pan across three faces — second camera move ③ CU her arms uncrossing (shoot the arms, not the face)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8A827C"/>
                </a:solidFill>
                <a:latin typeface="Arial"/>
              </a:rPr>
              <a:t>Props: Red/white outfits · small flags · clapper · cheek sticker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4343400" cy="521208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3749039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The beat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532"/>
                </a:solidFill>
                <a:latin typeface="Arial"/>
              </a:rPr>
              <a:t>Red and white on the sofa; deadpan commentary (jets = flying revenue) — until the anthem and pledge, when muscle memory betrays all three: they straighten up and recite without deciding to.</a:t>
            </a:r>
          </a:p>
          <a:p>
            <a:pPr algn="l">
              <a:spcAft>
                <a:spcPts val="400"/>
              </a:spcAft>
            </a:pPr>
            <a:endParaRPr sz="115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Background / set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TV soft-focus/audio-only (as S3). Joseph in full supporter kit; James in red polo (“coincidence”); Angeline in white.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Key lines (Chinese — as spoken)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「六架。一秒钟飞掉我 centre 十年的 revenue。」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「……我还记得。」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「问题是念的时候，心里有没有东西动一下。」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A3532"/>
                </a:solidFill>
                <a:latin typeface="Arial"/>
              </a:rPr>
              <a:t>SCENE 11 · After The Fireworks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E1126"/>
                </a:solidFill>
                <a:latin typeface="Arial"/>
              </a:rPr>
              <a:t>Corridor · Night · ~2:30</a:t>
            </a:r>
          </a:p>
        </p:txBody>
      </p:sp>
      <p:pic>
        <p:nvPicPr>
          <p:cNvPr id="5" name="Picture 4" descr="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492240" cy="37707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43547"/>
            <a:ext cx="6492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E1126"/>
                </a:solidFill>
                <a:latin typeface="Arial"/>
              </a:rPr>
              <a:t>Shots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① three backs at the parapet WS — the poster frame ② her call: side MS, men pretending to watch ③ final faces in fireworks light, hold until the sound ends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8A827C"/>
                </a:solidFill>
                <a:latin typeface="Arial"/>
              </a:rPr>
              <a:t>Props: Phone · clapper (rehearse the one involuntary clap)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4343400" cy="521208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3749039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The beat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532"/>
                </a:solidFill>
                <a:latin typeface="Arial"/>
              </a:rPr>
              <a:t>How most of the country actually sees the fireworks: small, far, between blocks. Facing them, Angeline calls KL and declines — with a businesswoman's reason, not a sentimental one. Then one more reason, off the record.</a:t>
            </a:r>
          </a:p>
          <a:p>
            <a:pPr algn="l">
              <a:spcAft>
                <a:spcPts val="400"/>
              </a:spcAft>
            </a:pPr>
            <a:endParaRPr sz="115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Background / set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Parapet + fireworks in the block gap. If not shootable live: clean plates for compositing, or “heard but not seen” (arguably truer). Wardrobe: half-changed back into home clothes — keep this detail.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Key lines (Chinese — as spoken)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「我卖的东西，我自己都不信——这种生意做不久的。」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「我的房东会哭。」——「我不会。」(he cries)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A3532"/>
                </a:solidFill>
                <a:latin typeface="Arial"/>
              </a:rPr>
              <a:t>SCENE 12 · Tag · The Whiteboard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E1126"/>
                </a:solidFill>
                <a:latin typeface="Arial"/>
              </a:rPr>
              <a:t>Living room · Night · ~1:00</a:t>
            </a:r>
          </a:p>
        </p:txBody>
      </p:sp>
      <p:pic>
        <p:nvPicPr>
          <p:cNvPr id="5" name="Picture 4" descr="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492240" cy="37166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89389"/>
            <a:ext cx="6492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E1126"/>
                </a:solidFill>
                <a:latin typeface="Arial"/>
              </a:rPr>
              <a:t>Shots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① MS whiteboard + her writing ② two-shot exchange ③ CU whiteboard, cut to black → end card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8A827C"/>
                </a:solidFill>
                <a:latin typeface="Arial"/>
              </a:rPr>
              <a:t>Props: Whiteboard (S1 writing preserved) · marker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4343400" cy="521208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3749039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The beat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3A3532"/>
                </a:solidFill>
                <a:latin typeface="Arial"/>
              </a:rPr>
              <a:t>The two columns from S1 are still up. Under 「新加坡」 she writes 「屋檐 x 1 (会升值)」 — borrowing James's EP1 joke — then immediately negotiates a loyalty discount on her rent renewal.</a:t>
            </a:r>
          </a:p>
          <a:p>
            <a:pPr algn="l">
              <a:spcAft>
                <a:spcPts val="400"/>
              </a:spcAft>
            </a:pPr>
            <a:endParaRPr sz="115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Background / set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532"/>
                </a:solidFill>
                <a:latin typeface="Arial"/>
              </a:rPr>
              <a:t>Late night, one lamp. The whiteboard is the star and must still carry Scene 1's writing (continuity!).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3A353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E1126"/>
                </a:solidFill>
                <a:latin typeface="Arial"/>
              </a:rPr>
              <a:t>Key lines (Chinese — as spoken)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「这个是我的 IP。」——「你要收 royalty？」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A3532"/>
                </a:solidFill>
                <a:latin typeface="Arial"/>
              </a:rPr>
              <a:t>「留住一个旧的，比找一个新的便宜。你自己教我的。」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A3532"/>
                </a:solidFill>
                <a:latin typeface="Arial"/>
              </a:rPr>
              <a:t>Shorts Plan (6 vertical clips)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3A3532"/>
                </a:solidFill>
                <a:latin typeface="Arial"/>
              </a:rPr>
              <a:t>Release rhythm follows the holiday: hook clip before the episode, emotional clips on the day. Long-form builds loyal viewers; shorts get us discovered.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703320" cy="192024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3063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CE1126"/>
                </a:solidFill>
                <a:latin typeface="Arial"/>
              </a:rPr>
              <a:t>S1 · “Don't say food”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A3532"/>
                </a:solidFill>
                <a:latin typeface="Arial"/>
              </a:rPr>
              <a:t>45s · release Aug 6–7 (hook, pre-episode)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79" y="1920240"/>
            <a:ext cx="3703320" cy="192024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19" y="2194560"/>
            <a:ext cx="3063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CE1126"/>
                </a:solidFill>
                <a:latin typeface="Arial"/>
              </a:rPr>
              <a:t>S5 · Pitching the whole country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A3532"/>
                </a:solidFill>
                <a:latin typeface="Arial"/>
              </a:rPr>
              <a:t>60–90s · strongest share clip, post-episode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19" y="1920240"/>
            <a:ext cx="3703320" cy="192024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23959" y="2194560"/>
            <a:ext cx="3063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CE1126"/>
                </a:solidFill>
                <a:latin typeface="Arial"/>
              </a:rPr>
              <a:t>S7 · “Everyone has done the math”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A3532"/>
                </a:solidFill>
                <a:latin typeface="Arial"/>
              </a:rPr>
              <a:t>60s · emotional resonance clip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69080"/>
            <a:ext cx="3703320" cy="192024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343400"/>
            <a:ext cx="3063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CE1126"/>
                </a:solidFill>
                <a:latin typeface="Arial"/>
              </a:rPr>
              <a:t>S8 · “Answers queueing up”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A3532"/>
                </a:solidFill>
                <a:latin typeface="Arial"/>
              </a:rPr>
              <a:t>45s · quotable clip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79" y="4069080"/>
            <a:ext cx="3703320" cy="192024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19" y="4343400"/>
            <a:ext cx="3063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CE1126"/>
                </a:solidFill>
                <a:latin typeface="Arial"/>
              </a:rPr>
              <a:t>S10 · Three reciting the pledge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A3532"/>
                </a:solidFill>
                <a:latin typeface="Arial"/>
              </a:rPr>
              <a:t>60s · release ON National 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19" y="4069080"/>
            <a:ext cx="3703320" cy="1920240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3959" y="4343400"/>
            <a:ext cx="3063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CE1126"/>
                </a:solidFill>
                <a:latin typeface="Arial"/>
              </a:rPr>
              <a:t>S11 · “My landlord will cry”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A3532"/>
                </a:solidFill>
                <a:latin typeface="Arial"/>
              </a:rPr>
              <a:t>45s · laugh-then-cry share clip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E11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Countdown (release Aug 8–9)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64240" cy="694944"/>
          </a:xfrm>
          <a:prstGeom prst="roundRect">
            <a:avLst>
              <a:gd name="adj" fmla="val 8000"/>
            </a:avLst>
          </a:prstGeom>
          <a:solidFill>
            <a:srgbClr val="A5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Arial"/>
              </a:rPr>
              <a:t>Jul 27–29: James's read-through + line adjustments → locked script. One full table read (anyone who breaks laughing: retake)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12264"/>
            <a:ext cx="11064240" cy="694944"/>
          </a:xfrm>
          <a:prstGeom prst="roundRect">
            <a:avLst>
              <a:gd name="adj" fmla="val 8000"/>
            </a:avLst>
          </a:prstGeom>
          <a:solidFill>
            <a:srgbClr val="A5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21992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Arial"/>
              </a:rPr>
              <a:t>Jul 30–31: art dept ready: whiteboard columns, flip chart, printed spreadsheet (handwritten rows), fake screenshots, flag condition checked, red/white wardrobe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98648"/>
            <a:ext cx="11064240" cy="694944"/>
          </a:xfrm>
          <a:prstGeom prst="roundRect">
            <a:avLst>
              <a:gd name="adj" fmla="val 8000"/>
            </a:avLst>
          </a:prstGeom>
          <a:solidFill>
            <a:srgbClr val="A5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008376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Arial"/>
              </a:rPr>
              <a:t>Aug 1–2 (weekend): 2-day shoot — Day: S2/S3/S6/S8/S9 · Night: S1/S4/S5/S7/S10/S11/S12. If fireworks unshootable, capture clean plates for compositing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85032"/>
            <a:ext cx="11064240" cy="694944"/>
          </a:xfrm>
          <a:prstGeom prst="roundRect">
            <a:avLst>
              <a:gd name="adj" fmla="val 8000"/>
            </a:avLst>
          </a:prstGeom>
          <a:solidFill>
            <a:srgbClr val="A5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Arial"/>
              </a:rPr>
              <a:t>Aug 3–6: edit + Chinese subtitles (mandatory for overseas Chinese-language platforms). TV footage handled soft-focus/audio-only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71416"/>
            <a:ext cx="11064240" cy="694944"/>
          </a:xfrm>
          <a:prstGeom prst="roundRect">
            <a:avLst>
              <a:gd name="adj" fmla="val 8000"/>
            </a:avLst>
          </a:prstGeom>
          <a:solidFill>
            <a:srgbClr val="A5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581144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Arial"/>
              </a:rPr>
              <a:t>Aug 7: James reviews the cut (gate: nothing releases before his OK). Aug 6–7: S1 hook short goes out 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57800"/>
            <a:ext cx="11064240" cy="694944"/>
          </a:xfrm>
          <a:prstGeom prst="roundRect">
            <a:avLst>
              <a:gd name="adj" fmla="val 8000"/>
            </a:avLst>
          </a:prstGeom>
          <a:solidFill>
            <a:srgbClr val="A5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367528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Arial"/>
              </a:rPr>
              <a:t>Aug 8 evening or Aug 9: full episode release. Aug 9: S10 pledge short on the day. Per house rules: no public post without James's explicit 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17336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Fact discipline: all numbers fictional ✅ · flag display guidelines confirmed before shoot ⚠ · NDP footage copyright handled conservatively 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2469</Words>
  <Application>Microsoft Macintosh PowerPoint</Application>
  <PresentationFormat>Widescreen</PresentationFormat>
  <Paragraphs>228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Angeline Yang</cp:lastModifiedBy>
  <cp:revision>1</cp:revision>
  <dcterms:created xsi:type="dcterms:W3CDTF">2013-01-27T09:14:16Z</dcterms:created>
  <dcterms:modified xsi:type="dcterms:W3CDTF">2026-07-27T05:05:38Z</dcterms:modified>
  <cp:category/>
</cp:coreProperties>
</file>